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0"/>
            <a:ext cx="12191695" cy="38405"/>
          </a:xfrm>
          <a:prstGeom prst="rect">
            <a:avLst/>
          </a:prstGeom>
          <a:solidFill>
            <a:srgbClr val="003D5C"/>
          </a:solidFill>
          <a:ln w="12700">
            <a:solidFill>
              <a:srgbClr val="003D5C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418795"/>
            <a:ext cx="16614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2" kern="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Situation Analysis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790481" y="457200"/>
            <a:ext cx="218815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Project: Aging Housing Simulation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685800"/>
            <a:ext cx="113541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노후주택 급증에 따른 정비사업 수요 폭발적 증가 예상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190549"/>
            <a:ext cx="112398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2025년 기준 전국 노후주택 비중 22% 돌파, 서울 아파트의 64%가 노후화되어 즉각적인 관리 및 정비가 시급함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9905" y="2219249"/>
            <a:ext cx="35048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9905" y="1876349"/>
            <a:ext cx="3620110" cy="2679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3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9905" y="2457907"/>
            <a:ext cx="19202" cy="733349"/>
          </a:xfrm>
          <a:prstGeom prst="rect">
            <a:avLst/>
          </a:prstGeom>
          <a:solidFill>
            <a:srgbClr val="00A3E0"/>
          </a:solidFill>
          <a:ln w="12700">
            <a:solidFill>
              <a:srgbClr val="00A3E0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1754" y="2457907"/>
            <a:ext cx="35341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전국 30년 초과 노후주택 비중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71754" y="2581351"/>
            <a:ext cx="12115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3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22.0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1767535" y="2848356"/>
            <a:ext cx="2953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093062" y="2924251"/>
            <a:ext cx="1485900" cy="267005"/>
          </a:xfrm>
          <a:prstGeom prst="roundRect">
            <a:avLst>
              <a:gd name="adj" fmla="val 48924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168957" y="2962656"/>
            <a:ext cx="157459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10%p (3년 전 대비)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9905" y="3495751"/>
            <a:ext cx="19202" cy="942746"/>
          </a:xfrm>
          <a:prstGeom prst="rect">
            <a:avLst/>
          </a:prstGeom>
          <a:solidFill>
            <a:srgbClr val="00A3E0"/>
          </a:solidFill>
          <a:ln w="12700">
            <a:solidFill>
              <a:srgbClr val="00A3E0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1754" y="3495751"/>
            <a:ext cx="35341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 노후 아파트 비중 (20년+)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71754" y="3619195"/>
            <a:ext cx="12115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3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64.4</a:t>
            </a:r>
            <a:endParaRPr lang="en-US" sz="3600" dirty="0"/>
          </a:p>
        </p:txBody>
      </p:sp>
      <p:sp>
        <p:nvSpPr>
          <p:cNvPr id="20" name="Text 18"/>
          <p:cNvSpPr txBox="1"/>
          <p:nvPr/>
        </p:nvSpPr>
        <p:spPr>
          <a:xfrm>
            <a:off x="1767535" y="3886200"/>
            <a:ext cx="2953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71754" y="4286707"/>
            <a:ext cx="35341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대상: 서울 전체 아파트 172만 가구 중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9905" y="4743907"/>
            <a:ext cx="19202" cy="724205"/>
          </a:xfrm>
          <a:prstGeom prst="rect">
            <a:avLst/>
          </a:prstGeom>
          <a:solidFill>
            <a:srgbClr val="00A3E0"/>
          </a:solidFill>
          <a:ln w="12700">
            <a:solidFill>
              <a:srgbClr val="00A3E0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1754" y="4743907"/>
            <a:ext cx="35341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심각 지역 노후도 (최고 수준)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71754" y="5009998"/>
            <a:ext cx="172821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전라남도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771754" y="5162702"/>
            <a:ext cx="16770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42.8%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2519172" y="5009998"/>
            <a:ext cx="172821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경상북도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2519172" y="5162702"/>
            <a:ext cx="16770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37.7%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09905" y="5836615"/>
            <a:ext cx="3504895" cy="115214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9" name="Shape 27"/>
          <p:cNvSpPr/>
          <p:nvPr/>
        </p:nvSpPr>
        <p:spPr>
          <a:xfrm>
            <a:off x="609905" y="5836615"/>
            <a:ext cx="38405" cy="1152144"/>
          </a:xfrm>
          <a:prstGeom prst="rect">
            <a:avLst/>
          </a:prstGeom>
          <a:solidFill>
            <a:srgbClr val="003D5C"/>
          </a:solidFill>
          <a:ln w="12700">
            <a:solidFill>
              <a:srgbClr val="003D5C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00100" y="5988406"/>
            <a:ext cx="32772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3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Implication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800100" y="6179515"/>
            <a:ext cx="3238805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주거시설의 노후화 가속화(전체 노후건물 중 52%가 주거용)로 인해 재건축·리모델링 등</a:t>
            </a:r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정비사업 시장의 급격한 팽창</a:t>
            </a:r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 이에 따른</a:t>
            </a:r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행정 비용 및 사회적 비용 증가</a:t>
            </a:r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불가피함.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0" y="1876349"/>
            <a:ext cx="345094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3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지역별 노후주택 비중 비교 (2025)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9815170" y="1952244"/>
            <a:ext cx="114300" cy="114300"/>
          </a:xfrm>
          <a:prstGeom prst="rect">
            <a:avLst/>
          </a:prstGeom>
          <a:solidFill>
            <a:srgbClr val="003D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005365" y="1933956"/>
            <a:ext cx="78089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노후주택 비중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0821010" y="1952244"/>
            <a:ext cx="114300" cy="114300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1011205" y="1933956"/>
            <a:ext cx="66294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신축/준신축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0" y="2295144"/>
            <a:ext cx="7010705" cy="4457700"/>
          </a:xfrm>
          <a:prstGeom prst="roundRect">
            <a:avLst>
              <a:gd name="adj" fmla="val 351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6" b="-6"/>
          <a:stretch/>
        </p:blipFill>
        <p:spPr>
          <a:xfrm>
            <a:off x="4657954" y="2381098"/>
            <a:ext cx="6838798" cy="4286707"/>
          </a:xfrm>
          <a:prstGeom prst="rect">
            <a:avLst/>
          </a:prstGeom>
        </p:spPr>
      </p:pic>
      <p:sp>
        <p:nvSpPr>
          <p:cNvPr id="39" name="Text 36"/>
          <p:cNvSpPr txBox="1"/>
          <p:nvPr/>
        </p:nvSpPr>
        <p:spPr>
          <a:xfrm>
            <a:off x="4457700" y="6829654"/>
            <a:ext cx="71250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Source: 국토교통부, 통계청 주택총조사 (2025 기준 재구성)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0" y="6391656"/>
            <a:ext cx="12191695" cy="4663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8"/>
          <p:cNvSpPr/>
          <p:nvPr/>
        </p:nvSpPr>
        <p:spPr>
          <a:xfrm>
            <a:off x="0" y="6391656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09905" y="6553505"/>
            <a:ext cx="278892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Confidential - For Discussion Purposes Only</a:t>
            </a:r>
            <a:endParaRPr lang="en-US" sz="900" dirty="0"/>
          </a:p>
        </p:txBody>
      </p:sp>
      <p:sp>
        <p:nvSpPr>
          <p:cNvPr id="43" name="Text 40"/>
          <p:cNvSpPr txBox="1"/>
          <p:nvPr/>
        </p:nvSpPr>
        <p:spPr>
          <a:xfrm>
            <a:off x="11518697" y="6553505"/>
            <a:ext cx="1435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0"/>
            <a:ext cx="12191695" cy="38405"/>
          </a:xfrm>
          <a:prstGeom prst="rect">
            <a:avLst/>
          </a:prstGeom>
          <a:solidFill>
            <a:srgbClr val="003D5C"/>
          </a:solidFill>
          <a:ln w="12700">
            <a:solidFill>
              <a:srgbClr val="003D5C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418795"/>
            <a:ext cx="16002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2" kern="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Solution Overview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790481" y="457200"/>
            <a:ext cx="218815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Project: Aging Housing Simulation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685800"/>
            <a:ext cx="113541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RAG 기반 정비사업 시뮬레이션 플랫폼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190549"/>
            <a:ext cx="112398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공공·민간 빅데이터 통합 및 법률 RAG(검색 증강 생성) 기술을 통해 최적의 정비 모델과 사업성 분석을 자동화함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9905" y="1952244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6890" y="1990649"/>
            <a:ext cx="171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28700" y="1971446"/>
            <a:ext cx="173461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Aggregation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9905" y="2371954"/>
            <a:ext cx="2714854" cy="2819095"/>
          </a:xfrm>
          <a:prstGeom prst="roundRect">
            <a:avLst>
              <a:gd name="adj" fmla="val 94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" y="2572207"/>
            <a:ext cx="2314346" cy="705002"/>
          </a:xfrm>
          <a:prstGeom prst="roundRect">
            <a:avLst>
              <a:gd name="adj" fmla="val 70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72007" y="2734056"/>
            <a:ext cx="207111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 Data</a:t>
            </a:r>
            <a:endParaRPr lang="en-US" sz="9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rcRect l="-24850" r="-24850" t="0" b="0"/>
          <a:stretch/>
        </p:blipFill>
        <p:spPr>
          <a:xfrm>
            <a:off x="972007" y="2943454"/>
            <a:ext cx="228600" cy="152705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276502" y="2924251"/>
            <a:ext cx="14913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건축물대장 / 실거래가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9244" y="3429000"/>
            <a:ext cx="2314346" cy="705002"/>
          </a:xfrm>
          <a:prstGeom prst="roundRect">
            <a:avLst>
              <a:gd name="adj" fmla="val 70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72007" y="3590849"/>
            <a:ext cx="207111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Market Data</a:t>
            </a:r>
            <a:endParaRPr lang="en-US" sz="9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rcRect l="-24850" r="-24850" t="0" b="0"/>
          <a:stretch/>
        </p:blipFill>
        <p:spPr>
          <a:xfrm>
            <a:off x="972007" y="3800246"/>
            <a:ext cx="228600" cy="152705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276502" y="3781044"/>
            <a:ext cx="14365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공사비 지수 / 분양가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809244" y="4286707"/>
            <a:ext cx="2314346" cy="705002"/>
          </a:xfrm>
          <a:prstGeom prst="roundRect">
            <a:avLst>
              <a:gd name="adj" fmla="val 70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972007" y="4448556"/>
            <a:ext cx="207111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Knowledge Base</a:t>
            </a:r>
            <a:endParaRPr lang="en-US" sz="9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rcRect l="-35543" r="-35543" t="0" b="0"/>
          <a:stretch/>
        </p:blipFill>
        <p:spPr>
          <a:xfrm>
            <a:off x="972007" y="4657954"/>
            <a:ext cx="228600" cy="152705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276502" y="4638751"/>
            <a:ext cx="117957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법령 / 조례 / 판례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3433572" y="3363163"/>
            <a:ext cx="381305" cy="19202"/>
          </a:xfrm>
          <a:prstGeom prst="rect">
            <a:avLst/>
          </a:prstGeom>
          <a:solidFill>
            <a:srgbClr val="CBD5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3925519" y="1952244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003D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4032504" y="1990649"/>
            <a:ext cx="171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4344314" y="1971446"/>
            <a:ext cx="196138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3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Intelligence Core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3925519" y="2371954"/>
            <a:ext cx="4343400" cy="2428646"/>
          </a:xfrm>
          <a:prstGeom prst="roundRect">
            <a:avLst>
              <a:gd name="adj" fmla="val 1181"/>
            </a:avLst>
          </a:prstGeom>
          <a:solidFill>
            <a:srgbClr val="003D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>
            <a:alphaModFix amt="10000"/>
          </a:blip>
          <a:srcRect l="0" r="0" t="0" b="0"/>
          <a:stretch/>
        </p:blipFill>
        <p:spPr>
          <a:xfrm>
            <a:off x="6894576" y="2523744"/>
            <a:ext cx="1218895" cy="1218895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8376818" y="3363163"/>
            <a:ext cx="381305" cy="19202"/>
          </a:xfrm>
          <a:prstGeom prst="rect">
            <a:avLst/>
          </a:prstGeom>
          <a:solidFill>
            <a:srgbClr val="CBD5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8869680" y="1952244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00A3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8976665" y="1990649"/>
            <a:ext cx="171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28"/>
          <p:cNvSpPr txBox="1"/>
          <p:nvPr/>
        </p:nvSpPr>
        <p:spPr>
          <a:xfrm>
            <a:off x="9288475" y="1971446"/>
            <a:ext cx="167792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Strategic Output</a:t>
            </a:r>
            <a:endParaRPr lang="en-US" sz="1300" dirty="0"/>
          </a:p>
        </p:txBody>
      </p:sp>
      <p:sp>
        <p:nvSpPr>
          <p:cNvPr id="35" name="Shape 29"/>
          <p:cNvSpPr/>
          <p:nvPr/>
        </p:nvSpPr>
        <p:spPr>
          <a:xfrm>
            <a:off x="8869680" y="2371954"/>
            <a:ext cx="2714854" cy="3219602"/>
          </a:xfrm>
          <a:prstGeom prst="roundRect">
            <a:avLst>
              <a:gd name="adj" fmla="val 945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9069019" y="2572207"/>
            <a:ext cx="2314346" cy="838505"/>
          </a:xfrm>
          <a:prstGeom prst="roundRect">
            <a:avLst>
              <a:gd name="adj" fmla="val 4957"/>
            </a:avLst>
          </a:prstGeom>
          <a:solidFill>
            <a:srgbClr val="FFFFFF"/>
          </a:solidFill>
          <a:ln/>
        </p:spPr>
      </p:sp>
      <p:sp>
        <p:nvSpPr>
          <p:cNvPr id="37" name="Shape 31"/>
          <p:cNvSpPr/>
          <p:nvPr/>
        </p:nvSpPr>
        <p:spPr>
          <a:xfrm>
            <a:off x="9069019" y="2572207"/>
            <a:ext cx="38405" cy="83850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9260129" y="2723998"/>
            <a:ext cx="21296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3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최적 정비 모델 제시</a:t>
            </a:r>
            <a:endParaRPr lang="en-US" sz="1000" dirty="0"/>
          </a:p>
        </p:txBody>
      </p:sp>
      <p:sp>
        <p:nvSpPr>
          <p:cNvPr id="39" name="Text 33"/>
          <p:cNvSpPr txBox="1"/>
          <p:nvPr/>
        </p:nvSpPr>
        <p:spPr>
          <a:xfrm>
            <a:off x="9260129" y="2952598"/>
            <a:ext cx="295625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재건축 vs 리모델링 vs 소규모 정비 중 최적안 도출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9069019" y="3562502"/>
            <a:ext cx="2314346" cy="838505"/>
          </a:xfrm>
          <a:prstGeom prst="roundRect">
            <a:avLst>
              <a:gd name="adj" fmla="val 4957"/>
            </a:avLst>
          </a:prstGeom>
          <a:solidFill>
            <a:srgbClr val="FFFFFF"/>
          </a:solidFill>
          <a:ln/>
        </p:spPr>
      </p:sp>
      <p:sp>
        <p:nvSpPr>
          <p:cNvPr id="41" name="Shape 35"/>
          <p:cNvSpPr/>
          <p:nvPr/>
        </p:nvSpPr>
        <p:spPr>
          <a:xfrm>
            <a:off x="9069019" y="3562502"/>
            <a:ext cx="38405" cy="83850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9260129" y="3715207"/>
            <a:ext cx="21296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3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사업성 분석 리포트</a:t>
            </a:r>
            <a:endParaRPr lang="en-US" sz="1000" dirty="0"/>
          </a:p>
        </p:txBody>
      </p:sp>
      <p:sp>
        <p:nvSpPr>
          <p:cNvPr id="43" name="Text 37"/>
          <p:cNvSpPr txBox="1"/>
          <p:nvPr/>
        </p:nvSpPr>
        <p:spPr>
          <a:xfrm>
            <a:off x="9260129" y="3943807"/>
            <a:ext cx="284652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ROI 예측, 세대별 추정 분담금, 민감도 분석 결과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9069019" y="4552798"/>
            <a:ext cx="2314346" cy="838505"/>
          </a:xfrm>
          <a:prstGeom prst="roundRect">
            <a:avLst>
              <a:gd name="adj" fmla="val 4957"/>
            </a:avLst>
          </a:prstGeom>
          <a:solidFill>
            <a:srgbClr val="FFFFFF"/>
          </a:solidFill>
          <a:ln/>
        </p:spPr>
      </p:sp>
      <p:sp>
        <p:nvSpPr>
          <p:cNvPr id="45" name="Shape 39"/>
          <p:cNvSpPr/>
          <p:nvPr/>
        </p:nvSpPr>
        <p:spPr>
          <a:xfrm>
            <a:off x="9069019" y="4552798"/>
            <a:ext cx="38405" cy="83850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6" name="Text 40"/>
          <p:cNvSpPr txBox="1"/>
          <p:nvPr/>
        </p:nvSpPr>
        <p:spPr>
          <a:xfrm>
            <a:off x="9260129" y="4705502"/>
            <a:ext cx="21296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3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인센티브 시나리오</a:t>
            </a:r>
            <a:endParaRPr lang="en-US" sz="1000" dirty="0"/>
          </a:p>
        </p:txBody>
      </p:sp>
      <p:sp>
        <p:nvSpPr>
          <p:cNvPr id="47" name="Text 41"/>
          <p:cNvSpPr txBox="1"/>
          <p:nvPr/>
        </p:nvSpPr>
        <p:spPr>
          <a:xfrm>
            <a:off x="9260129" y="4934102"/>
            <a:ext cx="247619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용적률 상향 등에 따른 기부채납 시뮬레이션</a:t>
            </a:r>
            <a:endParaRPr lang="en-US" sz="900" dirty="0"/>
          </a:p>
        </p:txBody>
      </p:sp>
      <p:sp>
        <p:nvSpPr>
          <p:cNvPr id="48" name="Shape 42"/>
          <p:cNvSpPr/>
          <p:nvPr/>
        </p:nvSpPr>
        <p:spPr>
          <a:xfrm>
            <a:off x="609905" y="5097780"/>
            <a:ext cx="10972800" cy="952805"/>
          </a:xfrm>
          <a:prstGeom prst="roundRect">
            <a:avLst>
              <a:gd name="adj" fmla="val 7678"/>
            </a:avLst>
          </a:prstGeom>
          <a:solidFill>
            <a:srgbClr val="F9FAFB"/>
          </a:solidFill>
          <a:ln/>
        </p:spPr>
      </p:sp>
      <p:sp>
        <p:nvSpPr>
          <p:cNvPr id="49" name="Shape 43"/>
          <p:cNvSpPr/>
          <p:nvPr/>
        </p:nvSpPr>
        <p:spPr>
          <a:xfrm>
            <a:off x="609905" y="5097780"/>
            <a:ext cx="109728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pic>
        <p:nvPicPr>
          <p:cNvPr id="50" name="Image 4" descr="preencoded.png">    </p:cNvPr>
          <p:cNvPicPr>
            <a:picLocks noChangeAspect="1"/>
          </p:cNvPicPr>
          <p:nvPr/>
        </p:nvPicPr>
        <p:blipFill>
          <a:blip r:embed="rId5"/>
          <a:srcRect l="-57" r="-57" t="0" b="0"/>
          <a:stretch/>
        </p:blipFill>
        <p:spPr>
          <a:xfrm>
            <a:off x="914400" y="5347411"/>
            <a:ext cx="200254" cy="228600"/>
          </a:xfrm>
          <a:prstGeom prst="rect">
            <a:avLst/>
          </a:prstGeom>
        </p:spPr>
      </p:pic>
      <p:sp>
        <p:nvSpPr>
          <p:cNvPr id="51" name="Text 44"/>
          <p:cNvSpPr txBox="1"/>
          <p:nvPr/>
        </p:nvSpPr>
        <p:spPr>
          <a:xfrm>
            <a:off x="1266444" y="5309006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3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속도 혁신 (Speed)</a:t>
            </a:r>
            <a:endParaRPr lang="en-US" sz="1000" dirty="0"/>
          </a:p>
        </p:txBody>
      </p:sp>
      <p:sp>
        <p:nvSpPr>
          <p:cNvPr id="52" name="Text 45"/>
          <p:cNvSpPr txBox="1"/>
          <p:nvPr/>
        </p:nvSpPr>
        <p:spPr>
          <a:xfrm>
            <a:off x="1266444" y="5537606"/>
            <a:ext cx="452536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수개월 소요되던 사업성 검토를 데이터 기반 자동화로 수분 내 1차 스크리닝 완료</a:t>
            </a:r>
            <a:endParaRPr lang="en-US" sz="900" dirty="0"/>
          </a:p>
        </p:txBody>
      </p:sp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470502" y="5347411"/>
            <a:ext cx="228600" cy="228600"/>
          </a:xfrm>
          <a:prstGeom prst="rect">
            <a:avLst/>
          </a:prstGeom>
        </p:spPr>
      </p:pic>
      <p:sp>
        <p:nvSpPr>
          <p:cNvPr id="54" name="Text 46"/>
          <p:cNvSpPr txBox="1"/>
          <p:nvPr/>
        </p:nvSpPr>
        <p:spPr>
          <a:xfrm>
            <a:off x="4851806" y="5309006"/>
            <a:ext cx="29910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3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정확도 제고 (Accuracy)</a:t>
            </a:r>
            <a:endParaRPr lang="en-US" sz="1000" dirty="0"/>
          </a:p>
        </p:txBody>
      </p:sp>
      <p:sp>
        <p:nvSpPr>
          <p:cNvPr id="55" name="Text 47"/>
          <p:cNvSpPr txBox="1"/>
          <p:nvPr/>
        </p:nvSpPr>
        <p:spPr>
          <a:xfrm>
            <a:off x="4851806" y="5537606"/>
            <a:ext cx="440192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통계가 아닌 실제 법규(RAG)를 반영하여 현실성 없는 대안을 사전 필터링</a:t>
            </a:r>
            <a:endParaRPr lang="en-US" sz="900" dirty="0"/>
          </a:p>
        </p:txBody>
      </p:sp>
      <p:pic>
        <p:nvPicPr>
          <p:cNvPr id="56" name="Image 6" descr="preencoded.png">    </p:cNvPr>
          <p:cNvPicPr>
            <a:picLocks noChangeAspect="1"/>
          </p:cNvPicPr>
          <p:nvPr/>
        </p:nvPicPr>
        <p:blipFill>
          <a:blip r:embed="rId7"/>
          <a:srcRect l="-80" r="-80" t="0" b="0"/>
          <a:stretch/>
        </p:blipFill>
        <p:spPr>
          <a:xfrm>
            <a:off x="8026603" y="5347411"/>
            <a:ext cx="286207" cy="228600"/>
          </a:xfrm>
          <a:prstGeom prst="rect">
            <a:avLst/>
          </a:prstGeom>
        </p:spPr>
      </p:pic>
      <p:sp>
        <p:nvSpPr>
          <p:cNvPr id="57" name="Text 48"/>
          <p:cNvSpPr txBox="1"/>
          <p:nvPr/>
        </p:nvSpPr>
        <p:spPr>
          <a:xfrm>
            <a:off x="8464601" y="5309006"/>
            <a:ext cx="293248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3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갈등 최소화 (Consensus)</a:t>
            </a:r>
            <a:endParaRPr lang="en-US" sz="1000" dirty="0"/>
          </a:p>
        </p:txBody>
      </p:sp>
      <p:sp>
        <p:nvSpPr>
          <p:cNvPr id="58" name="Text 49"/>
          <p:cNvSpPr txBox="1"/>
          <p:nvPr/>
        </p:nvSpPr>
        <p:spPr>
          <a:xfrm>
            <a:off x="8464601" y="5537606"/>
            <a:ext cx="44202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투명한 분담금 산출 근거를 제공하여 조합원 및 이해관계자 간 불필요한 논쟁 감소</a:t>
            </a:r>
            <a:endParaRPr lang="en-US" sz="900" dirty="0"/>
          </a:p>
        </p:txBody>
      </p:sp>
      <p:sp>
        <p:nvSpPr>
          <p:cNvPr id="59" name="Shape 50"/>
          <p:cNvSpPr/>
          <p:nvPr/>
        </p:nvSpPr>
        <p:spPr>
          <a:xfrm>
            <a:off x="0" y="6391656"/>
            <a:ext cx="12191695" cy="4663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Shape 51"/>
          <p:cNvSpPr/>
          <p:nvPr/>
        </p:nvSpPr>
        <p:spPr>
          <a:xfrm>
            <a:off x="0" y="6391656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1" name="Text 52"/>
          <p:cNvSpPr txBox="1"/>
          <p:nvPr/>
        </p:nvSpPr>
        <p:spPr>
          <a:xfrm>
            <a:off x="609905" y="6553505"/>
            <a:ext cx="278892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Confidential - For Discussion Purposes Only</a:t>
            </a:r>
            <a:endParaRPr lang="en-US" sz="900" dirty="0"/>
          </a:p>
        </p:txBody>
      </p:sp>
      <p:sp>
        <p:nvSpPr>
          <p:cNvPr id="62" name="Text 53"/>
          <p:cNvSpPr txBox="1"/>
          <p:nvPr/>
        </p:nvSpPr>
        <p:spPr>
          <a:xfrm>
            <a:off x="11518697" y="6553505"/>
            <a:ext cx="1435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900" dirty="0"/>
          </a:p>
        </p:txBody>
      </p:sp>
      <p:sp>
        <p:nvSpPr>
          <p:cNvPr id="63" name="Shape 54"/>
          <p:cNvSpPr/>
          <p:nvPr/>
        </p:nvSpPr>
        <p:spPr>
          <a:xfrm>
            <a:off x="4154119" y="2600554"/>
            <a:ext cx="3886200" cy="1429207"/>
          </a:xfrm>
          <a:prstGeom prst="roundRect">
            <a:avLst>
              <a:gd name="adj" fmla="val 341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4" name="Text 55"/>
          <p:cNvSpPr txBox="1"/>
          <p:nvPr/>
        </p:nvSpPr>
        <p:spPr>
          <a:xfrm>
            <a:off x="4563770" y="2762402"/>
            <a:ext cx="10579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RAG Engine</a:t>
            </a:r>
            <a:endParaRPr lang="en-US" sz="1300" dirty="0"/>
          </a:p>
        </p:txBody>
      </p:sp>
      <p:sp>
        <p:nvSpPr>
          <p:cNvPr id="65" name="Shape 56"/>
          <p:cNvSpPr/>
          <p:nvPr/>
        </p:nvSpPr>
        <p:spPr>
          <a:xfrm>
            <a:off x="6731813" y="2781605"/>
            <a:ext cx="1152144" cy="228600"/>
          </a:xfrm>
          <a:prstGeom prst="roundRect">
            <a:avLst>
              <a:gd name="adj" fmla="val 66667"/>
            </a:avLst>
          </a:prstGeom>
          <a:solidFill>
            <a:srgbClr val="00A3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Text 57"/>
          <p:cNvSpPr txBox="1"/>
          <p:nvPr/>
        </p:nvSpPr>
        <p:spPr>
          <a:xfrm>
            <a:off x="4315968" y="3105302"/>
            <a:ext cx="553486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최신 부동산 대책 및 지자체 조례를 실시간 검색(Retrieval)하여 해당 단지에 적용 가능한 인센티브 자동 매칭</a:t>
            </a:r>
            <a:endParaRPr lang="en-US" sz="1000" dirty="0"/>
          </a:p>
        </p:txBody>
      </p:sp>
      <p:sp>
        <p:nvSpPr>
          <p:cNvPr id="67" name="Shape 58"/>
          <p:cNvSpPr/>
          <p:nvPr/>
        </p:nvSpPr>
        <p:spPr>
          <a:xfrm>
            <a:off x="4315968" y="3600907"/>
            <a:ext cx="705002" cy="267005"/>
          </a:xfrm>
          <a:prstGeom prst="roundRect">
            <a:avLst>
              <a:gd name="adj" fmla="val 4892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8" name="Shape 59"/>
          <p:cNvSpPr/>
          <p:nvPr/>
        </p:nvSpPr>
        <p:spPr>
          <a:xfrm>
            <a:off x="5087722" y="3600907"/>
            <a:ext cx="981151" cy="267005"/>
          </a:xfrm>
          <a:prstGeom prst="roundRect">
            <a:avLst>
              <a:gd name="adj" fmla="val 4892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9" name="Shape 60"/>
          <p:cNvSpPr/>
          <p:nvPr/>
        </p:nvSpPr>
        <p:spPr>
          <a:xfrm>
            <a:off x="4154119" y="4181551"/>
            <a:ext cx="3886200" cy="1429207"/>
          </a:xfrm>
          <a:prstGeom prst="roundRect">
            <a:avLst>
              <a:gd name="adj" fmla="val 341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0" name="Text 61"/>
          <p:cNvSpPr txBox="1"/>
          <p:nvPr/>
        </p:nvSpPr>
        <p:spPr>
          <a:xfrm>
            <a:off x="4525366" y="4343400"/>
            <a:ext cx="15718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Simulation Model</a:t>
            </a:r>
            <a:endParaRPr lang="en-US" sz="1300" dirty="0"/>
          </a:p>
        </p:txBody>
      </p:sp>
      <p:sp>
        <p:nvSpPr>
          <p:cNvPr id="71" name="Shape 62"/>
          <p:cNvSpPr/>
          <p:nvPr/>
        </p:nvSpPr>
        <p:spPr>
          <a:xfrm>
            <a:off x="6647688" y="4362602"/>
            <a:ext cx="1228954" cy="228600"/>
          </a:xfrm>
          <a:prstGeom prst="roundRect">
            <a:avLst>
              <a:gd name="adj" fmla="val 66667"/>
            </a:avLst>
          </a:prstGeom>
          <a:solidFill>
            <a:srgbClr val="00A3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Text 63"/>
          <p:cNvSpPr txBox="1"/>
          <p:nvPr/>
        </p:nvSpPr>
        <p:spPr>
          <a:xfrm>
            <a:off x="4315968" y="4686300"/>
            <a:ext cx="444764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노후도 기반 정비 시급성 평가 및 시공비/분담금 예측 알고리즘 가동</a:t>
            </a:r>
            <a:endParaRPr lang="en-US" sz="1000" dirty="0"/>
          </a:p>
        </p:txBody>
      </p:sp>
      <p:sp>
        <p:nvSpPr>
          <p:cNvPr id="73" name="Shape 64"/>
          <p:cNvSpPr/>
          <p:nvPr/>
        </p:nvSpPr>
        <p:spPr>
          <a:xfrm>
            <a:off x="4315968" y="5181905"/>
            <a:ext cx="895198" cy="267005"/>
          </a:xfrm>
          <a:prstGeom prst="roundRect">
            <a:avLst>
              <a:gd name="adj" fmla="val 4892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4" name="Shape 65"/>
          <p:cNvSpPr/>
          <p:nvPr/>
        </p:nvSpPr>
        <p:spPr>
          <a:xfrm>
            <a:off x="5284318" y="5181905"/>
            <a:ext cx="724205" cy="267005"/>
          </a:xfrm>
          <a:prstGeom prst="roundRect">
            <a:avLst>
              <a:gd name="adj" fmla="val 4892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75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4315968" y="2821838"/>
            <a:ext cx="171907" cy="171907"/>
          </a:xfrm>
          <a:prstGeom prst="rect">
            <a:avLst/>
          </a:prstGeom>
        </p:spPr>
      </p:pic>
      <p:sp>
        <p:nvSpPr>
          <p:cNvPr id="76" name="Text 66"/>
          <p:cNvSpPr txBox="1"/>
          <p:nvPr/>
        </p:nvSpPr>
        <p:spPr>
          <a:xfrm>
            <a:off x="6808622" y="2809951"/>
            <a:ext cx="117409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Regulatory Check</a:t>
            </a:r>
            <a:endParaRPr lang="en-US" sz="900" dirty="0"/>
          </a:p>
        </p:txBody>
      </p:sp>
      <p:sp>
        <p:nvSpPr>
          <p:cNvPr id="77" name="Text 67"/>
          <p:cNvSpPr txBox="1"/>
          <p:nvPr/>
        </p:nvSpPr>
        <p:spPr>
          <a:xfrm>
            <a:off x="4401922" y="3648456"/>
            <a:ext cx="63550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Vector DB</a:t>
            </a:r>
            <a:endParaRPr lang="en-US" sz="900" dirty="0"/>
          </a:p>
        </p:txBody>
      </p:sp>
      <p:sp>
        <p:nvSpPr>
          <p:cNvPr id="78" name="Text 68"/>
          <p:cNvSpPr txBox="1"/>
          <p:nvPr/>
        </p:nvSpPr>
        <p:spPr>
          <a:xfrm>
            <a:off x="5173675" y="3648456"/>
            <a:ext cx="9244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Reasoning</a:t>
            </a:r>
            <a:endParaRPr lang="en-US" sz="900" dirty="0"/>
          </a:p>
        </p:txBody>
      </p:sp>
      <p:pic>
        <p:nvPicPr>
          <p:cNvPr id="79" name="Image 8" descr="preencoded.png">    </p:cNvPr>
          <p:cNvPicPr>
            <a:picLocks noChangeAspect="1"/>
          </p:cNvPicPr>
          <p:nvPr/>
        </p:nvPicPr>
        <p:blipFill>
          <a:blip r:embed="rId9"/>
          <a:srcRect l="-1773" r="-1773" t="0" b="0"/>
          <a:stretch/>
        </p:blipFill>
        <p:spPr>
          <a:xfrm>
            <a:off x="4315968" y="4402836"/>
            <a:ext cx="133502" cy="171907"/>
          </a:xfrm>
          <a:prstGeom prst="rect">
            <a:avLst/>
          </a:prstGeom>
        </p:spPr>
      </p:pic>
      <p:sp>
        <p:nvSpPr>
          <p:cNvPr id="80" name="Text 69"/>
          <p:cNvSpPr txBox="1"/>
          <p:nvPr/>
        </p:nvSpPr>
        <p:spPr>
          <a:xfrm>
            <a:off x="6724498" y="4390949"/>
            <a:ext cx="12810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Feasibility Analysis</a:t>
            </a:r>
            <a:endParaRPr lang="en-US" sz="900" dirty="0"/>
          </a:p>
        </p:txBody>
      </p:sp>
      <p:sp>
        <p:nvSpPr>
          <p:cNvPr id="81" name="Text 70"/>
          <p:cNvSpPr txBox="1"/>
          <p:nvPr/>
        </p:nvSpPr>
        <p:spPr>
          <a:xfrm>
            <a:off x="4401922" y="5229454"/>
            <a:ext cx="8622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Predictive ML</a:t>
            </a:r>
            <a:endParaRPr lang="en-US" sz="900" dirty="0"/>
          </a:p>
        </p:txBody>
      </p:sp>
      <p:sp>
        <p:nvSpPr>
          <p:cNvPr id="82" name="Text 71"/>
          <p:cNvSpPr txBox="1"/>
          <p:nvPr/>
        </p:nvSpPr>
        <p:spPr>
          <a:xfrm>
            <a:off x="5370271" y="5229454"/>
            <a:ext cx="6574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Cost Logic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0"/>
            <a:ext cx="12191695" cy="38405"/>
          </a:xfrm>
          <a:prstGeom prst="rect">
            <a:avLst/>
          </a:prstGeom>
          <a:solidFill>
            <a:srgbClr val="003D5C"/>
          </a:solidFill>
          <a:ln w="12700">
            <a:solidFill>
              <a:srgbClr val="003D5C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418795"/>
            <a:ext cx="213055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2" kern="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Implementation Strategy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790481" y="457200"/>
            <a:ext cx="218815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Project: Aging Housing Simulation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685800"/>
            <a:ext cx="113541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타겟별 맞춤형 가치 제안 및 실행 로드맵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190549"/>
            <a:ext cx="112398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이해관계자(지자체·조합·신탁)의 Pain Point를 해소하고, 단계적 도입을 통해 초기 리스크 최소화 및 성과 검증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9905" y="1876349"/>
            <a:ext cx="3504895" cy="3648456"/>
          </a:xfrm>
          <a:prstGeom prst="roundRect">
            <a:avLst>
              <a:gd name="adj" fmla="val 5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049" y="1886407"/>
            <a:ext cx="3486607" cy="733349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1" name="Shape 9"/>
          <p:cNvSpPr/>
          <p:nvPr/>
        </p:nvSpPr>
        <p:spPr>
          <a:xfrm>
            <a:off x="619049" y="2610612"/>
            <a:ext cx="3486607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1754" y="2038198"/>
            <a:ext cx="179588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3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지자체 (도시재생과)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71754" y="2305202"/>
            <a:ext cx="1524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 Sector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71646" y="2057400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76802" y="2162556"/>
            <a:ext cx="171907" cy="171907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809244" y="2809951"/>
            <a:ext cx="32196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" kern="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Needs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809244" y="3038551"/>
            <a:ext cx="3182112" cy="534010"/>
          </a:xfrm>
          <a:prstGeom prst="rect">
            <a:avLst/>
          </a:prstGeom>
          <a:solidFill>
            <a:srgbClr val="F9FAF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"한정된 예산으로 어디부터 정비해야 할지, 민원 없이 계획을 세우고 싶다."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809244" y="3724351"/>
            <a:ext cx="32196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" kern="0" dirty="0">
                <a:solidFill>
                  <a:srgbClr val="00A3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Benefits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992124" y="3952951"/>
            <a:ext cx="24003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기반 정비구역 우선순위 선정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992124" y="4238244"/>
            <a:ext cx="262067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조례 개정에 따른 시뮬레이션 즉시 확인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992124" y="4524451"/>
            <a:ext cx="24835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객관적 지표로 행정 처리 투명성 확보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076895" y="1876349"/>
            <a:ext cx="3504895" cy="3648456"/>
          </a:xfrm>
          <a:prstGeom prst="roundRect">
            <a:avLst>
              <a:gd name="adj" fmla="val 5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86954" y="1886407"/>
            <a:ext cx="3486607" cy="733349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4" name="Shape 21"/>
          <p:cNvSpPr/>
          <p:nvPr/>
        </p:nvSpPr>
        <p:spPr>
          <a:xfrm>
            <a:off x="8086954" y="2610612"/>
            <a:ext cx="3486607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38744" y="2038198"/>
            <a:ext cx="14292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3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신탁사 / 시공사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8238744" y="2305202"/>
            <a:ext cx="11914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Business Partner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11039551" y="2057400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rcRect l="-1064" r="-1064" t="0" b="0"/>
          <a:stretch/>
        </p:blipFill>
        <p:spPr>
          <a:xfrm>
            <a:off x="11120018" y="2162556"/>
            <a:ext cx="219456" cy="171907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8277149" y="2809951"/>
            <a:ext cx="32196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" kern="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Needs</a:t>
            </a:r>
            <a:endParaRPr lang="en-US" sz="900" dirty="0"/>
          </a:p>
        </p:txBody>
      </p:sp>
      <p:sp>
        <p:nvSpPr>
          <p:cNvPr id="30" name="Text 26"/>
          <p:cNvSpPr txBox="1"/>
          <p:nvPr/>
        </p:nvSpPr>
        <p:spPr>
          <a:xfrm>
            <a:off x="8277149" y="3038551"/>
            <a:ext cx="3182112" cy="534010"/>
          </a:xfrm>
          <a:prstGeom prst="rect">
            <a:avLst/>
          </a:prstGeom>
          <a:solidFill>
            <a:srgbClr val="F9FAF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"수익성 없는 사업장을 미리 걸러내고, 수주 성공률을 높이고 싶다."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8277149" y="3724351"/>
            <a:ext cx="32196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" kern="0" dirty="0">
                <a:solidFill>
                  <a:srgbClr val="00A3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Benefits</a:t>
            </a:r>
            <a:endParaRPr lang="en-US" sz="900" dirty="0"/>
          </a:p>
        </p:txBody>
      </p:sp>
      <p:sp>
        <p:nvSpPr>
          <p:cNvPr id="32" name="Text 28"/>
          <p:cNvSpPr txBox="1"/>
          <p:nvPr/>
        </p:nvSpPr>
        <p:spPr>
          <a:xfrm>
            <a:off x="8460029" y="3952951"/>
            <a:ext cx="26508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 리스크(미분양, 공사비) 조기 식별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8460029" y="4238244"/>
            <a:ext cx="262067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기반의 신뢰도 높은 제안서 작성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8460029" y="4524451"/>
            <a:ext cx="15453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수주 포트폴리오 최적화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609905" y="5829300"/>
            <a:ext cx="38405" cy="19019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24205" y="5829300"/>
            <a:ext cx="800100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3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Phased Implementation Roadmap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609905" y="6172200"/>
            <a:ext cx="8001000" cy="1591056"/>
          </a:xfrm>
          <a:prstGeom prst="roundRect">
            <a:avLst>
              <a:gd name="adj" fmla="val 275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609905" y="6957670"/>
            <a:ext cx="7981798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8915400" y="5829300"/>
            <a:ext cx="38405" cy="19019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9029700" y="5829300"/>
            <a:ext cx="265999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3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Expected KPIs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8915400" y="6172200"/>
            <a:ext cx="2667305" cy="495605"/>
          </a:xfrm>
          <a:prstGeom prst="roundRect">
            <a:avLst>
              <a:gd name="adj" fmla="val 14192"/>
            </a:avLst>
          </a:prstGeom>
          <a:solidFill>
            <a:srgbClr val="F9FAFB"/>
          </a:solidFill>
          <a:ln/>
        </p:spPr>
      </p:sp>
      <p:sp>
        <p:nvSpPr>
          <p:cNvPr id="42" name="Shape 38"/>
          <p:cNvSpPr/>
          <p:nvPr/>
        </p:nvSpPr>
        <p:spPr>
          <a:xfrm>
            <a:off x="8915400" y="6172200"/>
            <a:ext cx="38405" cy="495605"/>
          </a:xfrm>
          <a:prstGeom prst="rect">
            <a:avLst/>
          </a:prstGeom>
          <a:solidFill>
            <a:srgbClr val="003D5C"/>
          </a:solidFill>
          <a:ln w="12700">
            <a:solidFill>
              <a:srgbClr val="003D5C">
                <a:alpha val="0"/>
              </a:srgbClr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9068105" y="6334049"/>
            <a:ext cx="56144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검토 기간</a:t>
            </a:r>
            <a:endParaRPr lang="en-US" sz="900" dirty="0"/>
          </a:p>
        </p:txBody>
      </p:sp>
      <p:sp>
        <p:nvSpPr>
          <p:cNvPr id="44" name="Text 40"/>
          <p:cNvSpPr txBox="1"/>
          <p:nvPr/>
        </p:nvSpPr>
        <p:spPr>
          <a:xfrm>
            <a:off x="10989259" y="6277356"/>
            <a:ext cx="5623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3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-30%</a:t>
            </a:r>
            <a:endParaRPr lang="en-US" sz="1500" dirty="0"/>
          </a:p>
        </p:txBody>
      </p:sp>
      <p:sp>
        <p:nvSpPr>
          <p:cNvPr id="45" name="Shape 41"/>
          <p:cNvSpPr/>
          <p:nvPr/>
        </p:nvSpPr>
        <p:spPr>
          <a:xfrm>
            <a:off x="8915400" y="6743700"/>
            <a:ext cx="2667305" cy="495605"/>
          </a:xfrm>
          <a:prstGeom prst="roundRect">
            <a:avLst>
              <a:gd name="adj" fmla="val 14192"/>
            </a:avLst>
          </a:prstGeom>
          <a:solidFill>
            <a:srgbClr val="F9FAFB"/>
          </a:solidFill>
          <a:ln/>
        </p:spPr>
      </p:sp>
      <p:sp>
        <p:nvSpPr>
          <p:cNvPr id="46" name="Shape 42"/>
          <p:cNvSpPr/>
          <p:nvPr/>
        </p:nvSpPr>
        <p:spPr>
          <a:xfrm>
            <a:off x="8915400" y="6743700"/>
            <a:ext cx="38405" cy="495605"/>
          </a:xfrm>
          <a:prstGeom prst="rect">
            <a:avLst/>
          </a:prstGeom>
          <a:solidFill>
            <a:srgbClr val="003D5C"/>
          </a:solidFill>
          <a:ln w="12700">
            <a:solidFill>
              <a:srgbClr val="003D5C">
                <a:alpha val="0"/>
              </a:srgbClr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9068105" y="6905549"/>
            <a:ext cx="56144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오차</a:t>
            </a:r>
            <a:endParaRPr lang="en-US" sz="900" dirty="0"/>
          </a:p>
        </p:txBody>
      </p:sp>
      <p:sp>
        <p:nvSpPr>
          <p:cNvPr id="48" name="Text 44"/>
          <p:cNvSpPr txBox="1"/>
          <p:nvPr/>
        </p:nvSpPr>
        <p:spPr>
          <a:xfrm>
            <a:off x="10869473" y="6848856"/>
            <a:ext cx="6766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3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±10%</a:t>
            </a:r>
            <a:endParaRPr lang="en-US" sz="1500" dirty="0"/>
          </a:p>
        </p:txBody>
      </p:sp>
      <p:sp>
        <p:nvSpPr>
          <p:cNvPr id="49" name="Shape 45"/>
          <p:cNvSpPr/>
          <p:nvPr/>
        </p:nvSpPr>
        <p:spPr>
          <a:xfrm>
            <a:off x="8915400" y="7315200"/>
            <a:ext cx="2667305" cy="495605"/>
          </a:xfrm>
          <a:prstGeom prst="roundRect">
            <a:avLst>
              <a:gd name="adj" fmla="val 14192"/>
            </a:avLst>
          </a:prstGeom>
          <a:solidFill>
            <a:srgbClr val="F9FAFB"/>
          </a:solidFill>
          <a:ln/>
        </p:spPr>
      </p:sp>
      <p:sp>
        <p:nvSpPr>
          <p:cNvPr id="50" name="Shape 46"/>
          <p:cNvSpPr/>
          <p:nvPr/>
        </p:nvSpPr>
        <p:spPr>
          <a:xfrm>
            <a:off x="8915400" y="7315200"/>
            <a:ext cx="38405" cy="495605"/>
          </a:xfrm>
          <a:prstGeom prst="rect">
            <a:avLst/>
          </a:prstGeom>
          <a:solidFill>
            <a:srgbClr val="003D5C"/>
          </a:solidFill>
          <a:ln w="12700">
            <a:solidFill>
              <a:srgbClr val="003D5C">
                <a:alpha val="0"/>
              </a:srgbClr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9068105" y="7477049"/>
            <a:ext cx="68305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 만족도</a:t>
            </a:r>
            <a:endParaRPr lang="en-US" sz="900" dirty="0"/>
          </a:p>
        </p:txBody>
      </p:sp>
      <p:sp>
        <p:nvSpPr>
          <p:cNvPr id="52" name="Text 48"/>
          <p:cNvSpPr txBox="1"/>
          <p:nvPr/>
        </p:nvSpPr>
        <p:spPr>
          <a:xfrm>
            <a:off x="10947197" y="7420356"/>
            <a:ext cx="6007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3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80%+</a:t>
            </a:r>
            <a:endParaRPr lang="en-US" sz="1500" dirty="0"/>
          </a:p>
        </p:txBody>
      </p:sp>
      <p:sp>
        <p:nvSpPr>
          <p:cNvPr id="53" name="Shape 49"/>
          <p:cNvSpPr/>
          <p:nvPr/>
        </p:nvSpPr>
        <p:spPr>
          <a:xfrm>
            <a:off x="0" y="6391656"/>
            <a:ext cx="12191695" cy="4663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Shape 50"/>
          <p:cNvSpPr/>
          <p:nvPr/>
        </p:nvSpPr>
        <p:spPr>
          <a:xfrm>
            <a:off x="0" y="6391656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609905" y="6553505"/>
            <a:ext cx="278892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Confidential - For Discussion Purposes Only</a:t>
            </a:r>
            <a:endParaRPr lang="en-US" sz="900" dirty="0"/>
          </a:p>
        </p:txBody>
      </p:sp>
      <p:sp>
        <p:nvSpPr>
          <p:cNvPr id="56" name="Text 52"/>
          <p:cNvSpPr txBox="1"/>
          <p:nvPr/>
        </p:nvSpPr>
        <p:spPr>
          <a:xfrm>
            <a:off x="11518697" y="6553505"/>
            <a:ext cx="1435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900" dirty="0"/>
          </a:p>
        </p:txBody>
      </p:sp>
      <p:sp>
        <p:nvSpPr>
          <p:cNvPr id="57" name="Shape 53"/>
          <p:cNvSpPr/>
          <p:nvPr/>
        </p:nvSpPr>
        <p:spPr>
          <a:xfrm>
            <a:off x="4255618" y="1784909"/>
            <a:ext cx="3685946" cy="3838651"/>
          </a:xfrm>
          <a:prstGeom prst="roundRect">
            <a:avLst>
              <a:gd name="adj" fmla="val 513"/>
            </a:avLst>
          </a:prstGeom>
          <a:solidFill>
            <a:srgbClr val="FFFFFF"/>
          </a:solidFill>
          <a:ln w="12700">
            <a:solidFill>
              <a:srgbClr val="003D5C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4255618" y="1784909"/>
            <a:ext cx="3685946" cy="38405"/>
          </a:xfrm>
          <a:prstGeom prst="rect">
            <a:avLst/>
          </a:prstGeom>
          <a:solidFill>
            <a:srgbClr val="003D5C"/>
          </a:solidFill>
          <a:ln w="12700">
            <a:solidFill>
              <a:srgbClr val="003D5C">
                <a:alpha val="0"/>
              </a:srgbClr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4265676" y="1825142"/>
            <a:ext cx="3666744" cy="7717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Shape 56"/>
          <p:cNvSpPr/>
          <p:nvPr/>
        </p:nvSpPr>
        <p:spPr>
          <a:xfrm>
            <a:off x="4265676" y="2587752"/>
            <a:ext cx="3666744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61" name="Text 57"/>
          <p:cNvSpPr txBox="1"/>
          <p:nvPr/>
        </p:nvSpPr>
        <p:spPr>
          <a:xfrm>
            <a:off x="4425696" y="1985162"/>
            <a:ext cx="121066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3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정비사업 조합</a:t>
            </a:r>
            <a:endParaRPr lang="en-US" sz="1300" dirty="0"/>
          </a:p>
        </p:txBody>
      </p:sp>
      <p:sp>
        <p:nvSpPr>
          <p:cNvPr id="62" name="Text 58"/>
          <p:cNvSpPr txBox="1"/>
          <p:nvPr/>
        </p:nvSpPr>
        <p:spPr>
          <a:xfrm>
            <a:off x="4425696" y="2264969"/>
            <a:ext cx="11247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Owner</a:t>
            </a:r>
            <a:endParaRPr lang="en-US" sz="900" dirty="0"/>
          </a:p>
        </p:txBody>
      </p:sp>
      <p:sp>
        <p:nvSpPr>
          <p:cNvPr id="63" name="Shape 59"/>
          <p:cNvSpPr/>
          <p:nvPr/>
        </p:nvSpPr>
        <p:spPr>
          <a:xfrm>
            <a:off x="7366406" y="2005279"/>
            <a:ext cx="400507" cy="400507"/>
          </a:xfrm>
          <a:prstGeom prst="roundRect">
            <a:avLst>
              <a:gd name="adj" fmla="val 228311"/>
            </a:avLst>
          </a:prstGeom>
          <a:solidFill>
            <a:srgbClr val="003D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4" name="Image 2" descr="preencoded.png">    </p:cNvPr>
          <p:cNvPicPr>
            <a:picLocks noChangeAspect="1"/>
          </p:cNvPicPr>
          <p:nvPr/>
        </p:nvPicPr>
        <p:blipFill>
          <a:blip r:embed="rId3"/>
          <a:srcRect l="-2115" r="-2115" t="0" b="0"/>
          <a:stretch/>
        </p:blipFill>
        <p:spPr>
          <a:xfrm>
            <a:off x="7445959" y="2110435"/>
            <a:ext cx="247802" cy="190195"/>
          </a:xfrm>
          <a:prstGeom prst="rect">
            <a:avLst/>
          </a:prstGeom>
        </p:spPr>
      </p:pic>
      <p:sp>
        <p:nvSpPr>
          <p:cNvPr id="65" name="Text 60"/>
          <p:cNvSpPr txBox="1"/>
          <p:nvPr/>
        </p:nvSpPr>
        <p:spPr>
          <a:xfrm>
            <a:off x="4465930" y="2795321"/>
            <a:ext cx="33814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" kern="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Needs</a:t>
            </a:r>
            <a:endParaRPr lang="en-US" sz="900" dirty="0"/>
          </a:p>
        </p:txBody>
      </p:sp>
      <p:sp>
        <p:nvSpPr>
          <p:cNvPr id="66" name="Text 61"/>
          <p:cNvSpPr txBox="1"/>
          <p:nvPr/>
        </p:nvSpPr>
        <p:spPr>
          <a:xfrm>
            <a:off x="4465930" y="3035808"/>
            <a:ext cx="3343961" cy="562356"/>
          </a:xfrm>
          <a:prstGeom prst="rect">
            <a:avLst/>
          </a:prstGeom>
          <a:solidFill>
            <a:srgbClr val="EFF6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"분담금이 얼마인지 알아야 주민 동의를 받는데, 시간이 너무 오래 걸린다."</a:t>
            </a:r>
            <a:endParaRPr lang="en-US" sz="1000" dirty="0"/>
          </a:p>
        </p:txBody>
      </p:sp>
      <p:sp>
        <p:nvSpPr>
          <p:cNvPr id="67" name="Text 62"/>
          <p:cNvSpPr txBox="1"/>
          <p:nvPr/>
        </p:nvSpPr>
        <p:spPr>
          <a:xfrm>
            <a:off x="4465930" y="3755441"/>
            <a:ext cx="33814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" kern="0" dirty="0">
                <a:solidFill>
                  <a:srgbClr val="00A3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Benefits</a:t>
            </a:r>
            <a:endParaRPr lang="en-US" sz="900" dirty="0"/>
          </a:p>
        </p:txBody>
      </p:sp>
      <p:sp>
        <p:nvSpPr>
          <p:cNvPr id="68" name="Shape 63"/>
          <p:cNvSpPr/>
          <p:nvPr/>
        </p:nvSpPr>
        <p:spPr>
          <a:xfrm>
            <a:off x="4465930" y="4975250"/>
            <a:ext cx="3267151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69" name="Text 64"/>
          <p:cNvSpPr txBox="1"/>
          <p:nvPr/>
        </p:nvSpPr>
        <p:spPr>
          <a:xfrm>
            <a:off x="4657954" y="3995928"/>
            <a:ext cx="213146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세대별 추정 분담금 실시간 산출</a:t>
            </a:r>
            <a:endParaRPr lang="en-US" sz="1000" dirty="0"/>
          </a:p>
        </p:txBody>
      </p:sp>
      <p:sp>
        <p:nvSpPr>
          <p:cNvPr id="70" name="Text 65"/>
          <p:cNvSpPr txBox="1"/>
          <p:nvPr/>
        </p:nvSpPr>
        <p:spPr>
          <a:xfrm>
            <a:off x="4657954" y="4295851"/>
            <a:ext cx="24917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주민 설득용 시각화 리포트 자동 생성</a:t>
            </a:r>
            <a:endParaRPr lang="en-US" sz="1000" dirty="0"/>
          </a:p>
        </p:txBody>
      </p:sp>
      <p:sp>
        <p:nvSpPr>
          <p:cNvPr id="71" name="Text 66"/>
          <p:cNvSpPr txBox="1"/>
          <p:nvPr/>
        </p:nvSpPr>
        <p:spPr>
          <a:xfrm>
            <a:off x="4657954" y="4595774"/>
            <a:ext cx="19796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기간 30% 이상 단축</a:t>
            </a:r>
            <a:endParaRPr lang="en-US" sz="1000" dirty="0"/>
          </a:p>
        </p:txBody>
      </p:sp>
      <p:sp>
        <p:nvSpPr>
          <p:cNvPr id="72" name="Shape 67"/>
          <p:cNvSpPr/>
          <p:nvPr/>
        </p:nvSpPr>
        <p:spPr>
          <a:xfrm>
            <a:off x="5533034" y="5165446"/>
            <a:ext cx="1133856" cy="247802"/>
          </a:xfrm>
          <a:prstGeom prst="roundRect">
            <a:avLst>
              <a:gd name="adj" fmla="val 369004"/>
            </a:avLst>
          </a:prstGeom>
          <a:solidFill>
            <a:srgbClr val="00A3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Text 68"/>
          <p:cNvSpPr txBox="1"/>
          <p:nvPr/>
        </p:nvSpPr>
        <p:spPr>
          <a:xfrm>
            <a:off x="5582412" y="5195621"/>
            <a:ext cx="102778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Primary Target</a:t>
            </a:r>
            <a:endParaRPr lang="en-US" sz="900" dirty="0"/>
          </a:p>
        </p:txBody>
      </p:sp>
      <p:sp>
        <p:nvSpPr>
          <p:cNvPr id="74" name="Shape 69"/>
          <p:cNvSpPr/>
          <p:nvPr/>
        </p:nvSpPr>
        <p:spPr>
          <a:xfrm>
            <a:off x="2025396" y="6409944"/>
            <a:ext cx="152705" cy="152705"/>
          </a:xfrm>
          <a:prstGeom prst="roundRect">
            <a:avLst>
              <a:gd name="adj" fmla="val 598802"/>
            </a:avLst>
          </a:prstGeom>
          <a:solidFill>
            <a:srgbClr val="FFFFFF"/>
          </a:solidFill>
          <a:ln w="50800">
            <a:solidFill>
              <a:srgbClr val="003D5C"/>
            </a:solidFill>
            <a:prstDash val="solid"/>
          </a:ln>
        </p:spPr>
      </p:sp>
      <p:sp>
        <p:nvSpPr>
          <p:cNvPr id="75" name="Text 70"/>
          <p:cNvSpPr txBox="1"/>
          <p:nvPr/>
        </p:nvSpPr>
        <p:spPr>
          <a:xfrm>
            <a:off x="955548" y="6676949"/>
            <a:ext cx="22988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1: PoC (개념 검증)</a:t>
            </a:r>
            <a:endParaRPr lang="en-US" sz="1000" dirty="0"/>
          </a:p>
        </p:txBody>
      </p:sp>
      <p:sp>
        <p:nvSpPr>
          <p:cNvPr id="76" name="Text 71"/>
          <p:cNvSpPr txBox="1"/>
          <p:nvPr/>
        </p:nvSpPr>
        <p:spPr>
          <a:xfrm>
            <a:off x="955548" y="6867144"/>
            <a:ext cx="22988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3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Months</a:t>
            </a:r>
            <a:endParaRPr lang="en-US" sz="900" dirty="0"/>
          </a:p>
        </p:txBody>
      </p:sp>
      <p:sp>
        <p:nvSpPr>
          <p:cNvPr id="77" name="Text 72"/>
          <p:cNvSpPr txBox="1"/>
          <p:nvPr/>
        </p:nvSpPr>
        <p:spPr>
          <a:xfrm>
            <a:off x="961949" y="7095744"/>
            <a:ext cx="22860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알고리즘 정확도 검증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서울시 공공데이터셋 구축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기능 프로토타입 개발</a:t>
            </a:r>
            <a:endParaRPr lang="en-US" sz="900" dirty="0"/>
          </a:p>
        </p:txBody>
      </p:sp>
      <p:sp>
        <p:nvSpPr>
          <p:cNvPr id="78" name="Shape 73"/>
          <p:cNvSpPr/>
          <p:nvPr/>
        </p:nvSpPr>
        <p:spPr>
          <a:xfrm>
            <a:off x="4533595" y="6409944"/>
            <a:ext cx="152705" cy="152705"/>
          </a:xfrm>
          <a:prstGeom prst="roundRect">
            <a:avLst>
              <a:gd name="adj" fmla="val 598802"/>
            </a:avLst>
          </a:prstGeom>
          <a:solidFill>
            <a:srgbClr val="003D5C"/>
          </a:solidFill>
          <a:ln w="50800">
            <a:solidFill>
              <a:srgbClr val="003D5C"/>
            </a:solidFill>
            <a:prstDash val="solid"/>
          </a:ln>
        </p:spPr>
      </p:sp>
      <p:sp>
        <p:nvSpPr>
          <p:cNvPr id="79" name="Text 74"/>
          <p:cNvSpPr txBox="1"/>
          <p:nvPr/>
        </p:nvSpPr>
        <p:spPr>
          <a:xfrm>
            <a:off x="3463747" y="6676949"/>
            <a:ext cx="22988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2: Pilot (시범 적용)</a:t>
            </a:r>
            <a:endParaRPr lang="en-US" sz="1000" dirty="0"/>
          </a:p>
        </p:txBody>
      </p:sp>
      <p:sp>
        <p:nvSpPr>
          <p:cNvPr id="80" name="Text 75"/>
          <p:cNvSpPr txBox="1"/>
          <p:nvPr/>
        </p:nvSpPr>
        <p:spPr>
          <a:xfrm>
            <a:off x="3463747" y="6867144"/>
            <a:ext cx="22988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3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 Months</a:t>
            </a:r>
            <a:endParaRPr lang="en-US" sz="900" dirty="0"/>
          </a:p>
        </p:txBody>
      </p:sp>
      <p:sp>
        <p:nvSpPr>
          <p:cNvPr id="81" name="Text 76"/>
          <p:cNvSpPr txBox="1"/>
          <p:nvPr/>
        </p:nvSpPr>
        <p:spPr>
          <a:xfrm>
            <a:off x="3470148" y="7095744"/>
            <a:ext cx="22860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 자치구 선정 시범 운영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단지 시뮬레이션 대조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사용자(조합) 피드백 반영</a:t>
            </a:r>
            <a:endParaRPr lang="en-US" sz="900" dirty="0"/>
          </a:p>
        </p:txBody>
      </p:sp>
      <p:sp>
        <p:nvSpPr>
          <p:cNvPr id="82" name="Shape 77"/>
          <p:cNvSpPr/>
          <p:nvPr/>
        </p:nvSpPr>
        <p:spPr>
          <a:xfrm>
            <a:off x="7041794" y="6409944"/>
            <a:ext cx="152705" cy="152705"/>
          </a:xfrm>
          <a:prstGeom prst="roundRect">
            <a:avLst>
              <a:gd name="adj" fmla="val 598802"/>
            </a:avLst>
          </a:prstGeom>
          <a:solidFill>
            <a:srgbClr val="D1D5DB"/>
          </a:solidFill>
          <a:ln w="50800">
            <a:solidFill>
              <a:srgbClr val="D1D5DB"/>
            </a:solidFill>
            <a:prstDash val="solid"/>
          </a:ln>
        </p:spPr>
      </p:sp>
      <p:sp>
        <p:nvSpPr>
          <p:cNvPr id="83" name="Text 78"/>
          <p:cNvSpPr txBox="1"/>
          <p:nvPr/>
        </p:nvSpPr>
        <p:spPr>
          <a:xfrm>
            <a:off x="5971946" y="6676949"/>
            <a:ext cx="22988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3: Scale-up (확산)</a:t>
            </a:r>
            <a:endParaRPr lang="en-US" sz="1000" dirty="0"/>
          </a:p>
        </p:txBody>
      </p:sp>
      <p:sp>
        <p:nvSpPr>
          <p:cNvPr id="84" name="Text 79"/>
          <p:cNvSpPr txBox="1"/>
          <p:nvPr/>
        </p:nvSpPr>
        <p:spPr>
          <a:xfrm>
            <a:off x="5971946" y="6867144"/>
            <a:ext cx="22988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Year 2~</a:t>
            </a:r>
            <a:endParaRPr lang="en-US" sz="900" dirty="0"/>
          </a:p>
        </p:txBody>
      </p:sp>
      <p:sp>
        <p:nvSpPr>
          <p:cNvPr id="85" name="Text 80"/>
          <p:cNvSpPr txBox="1"/>
          <p:nvPr/>
        </p:nvSpPr>
        <p:spPr>
          <a:xfrm>
            <a:off x="5978347" y="7095744"/>
            <a:ext cx="22860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대상 광역 단위 확대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SaaS 플랫폼 상용화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B2C 서비스 오픈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2026-01-26T04:49:45Z</dcterms:created>
  <dcterms:modified xsi:type="dcterms:W3CDTF">2026-01-26T04:49:45Z</dcterms:modified>
</cp:coreProperties>
</file>